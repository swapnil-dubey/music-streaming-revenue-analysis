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5"/>
    <p:restoredTop sz="94610"/>
  </p:normalViewPr>
  <p:slideViewPr>
    <p:cSldViewPr snapToGrid="0" snapToObjects="1">
      <p:cViewPr>
        <p:scale>
          <a:sx n="104" d="100"/>
          <a:sy n="104" d="100"/>
        </p:scale>
        <p:origin x="244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829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00C9A7"/>
                </a:solidFill>
              </a:rPr>
              <a:t>CREATE MUSIC GROUP  ·  DATA SCIENCE INTERN CASE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Monthly Accruals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Forecasting Framework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8B2"/>
                </a:solidFill>
              </a:rPr>
              <a:t>Revenue &amp; RPS Estimation &amp; Insights · Jan-Oct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FA8B2"/>
                </a:solidFill>
              </a:rPr>
              <a:t>Swapnil Dubey · sdubey14@student.ubc.ca ·  March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0" y="1645920"/>
            <a:ext cx="73152" cy="1828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923"/>
                </a:solidFill>
              </a:rPr>
              <a:t>Why does Finance need this?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Payout Delay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DSP revenue for a given month (e.g. September) trickles in over the following 2-3 months. Finance can't close their books without estimates.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5087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Incomplete Picture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Without estimates for missing months, Finance sees large gaps - making it impossible to track performance or plan accruals accurately.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B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691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What We Need to Build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65176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A system that identifies which months have complete data, flags the rest, and fills the gaps with defensible revenue + RPS estimates.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668695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8B2"/>
                </a:solidFill>
              </a:rPr>
              <a:t>Key assumption provided: streams are complete for every month, even when revenue is not.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DATA OVERVIEW &amp; CLEANING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923"/>
                </a:solidFill>
              </a:rPr>
              <a:t>Two sources. Two problems. One clean dataset.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</a:rPr>
              <a:t>Revenue Sheet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3,534 rows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B2"/>
                </a:solidFill>
              </a:rPr>
              <a:t>month · business_unit · dsp · territory · revenue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27 raw DSP variants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9 null revenue values (Apple BU3, isolated)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10 territory buckets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60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160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</a:rPr>
              <a:t>Streams Sheet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26,036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B2"/>
                </a:solidFill>
              </a:rPr>
              <a:t>month · business_unit · dsp · country · streams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Already clean - 5 DSPs</a:t>
            </a:r>
            <a:endParaRPr lang="en-US" sz="1100" dirty="0"/>
          </a:p>
          <a:p>
            <a:r>
              <a:rPr lang="en-US" sz="1100" dirty="0">
                <a:solidFill>
                  <a:srgbClr val="3A4A52"/>
                </a:solidFill>
              </a:rPr>
              <a:t>200+ granular countries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Streams complete for all months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923"/>
                </a:solidFill>
              </a:rPr>
              <a:t>Key Cleaning 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42062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52"/>
                </a:solidFill>
              </a:rPr>
              <a:t>27 DSP revenue variants → 5 bucket DSPs (Spotify, YouTube, Apple, Amazon, TikTok): As seen in Streams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52"/>
                </a:solidFill>
              </a:rPr>
              <a:t>200+ stream countries → 10 territory buckets to match Revenue granularity (left join on Streams preserves all data)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4A52"/>
                </a:solidFill>
              </a:rPr>
              <a:t>9 null Apple BU3 revenue rows → estimated via RPS baseline rather than filled with 0 (prevents $0 revenue appearing in otherwise complete Actual months)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ACTUAL VS FORECAST - FLAG LOGIC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923"/>
                </a:solidFill>
              </a:rPr>
              <a:t>How do we know if a month's data is complete?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2"/>
                </a:solidFill>
              </a:rPr>
              <a:t>When revenue is missing/incomplete, it drops to near-zero across all territories simultaneously - suggesting DSPs report at the statement level rather than territory-by-territory. We therefore assess completeness at the </a:t>
            </a:r>
            <a:r>
              <a:rPr lang="en-US" sz="1200" dirty="0" err="1">
                <a:solidFill>
                  <a:srgbClr val="3A4A52"/>
                </a:solidFill>
              </a:rPr>
              <a:t>DSP+month</a:t>
            </a:r>
            <a:r>
              <a:rPr lang="en-US" sz="1200" dirty="0">
                <a:solidFill>
                  <a:srgbClr val="3A4A52"/>
                </a:solidFill>
              </a:rPr>
              <a:t> level by aggregating total revenue per DSP per month and comparing it to a historical baseline.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057400"/>
            <a:ext cx="3931920" cy="1965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</a:rPr>
              <a:t>The Rule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If a DSP's total revenue for a month is less than 20% of its Jan-Aug historical average → flag as Forecast.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Otherwise → Actual.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2057400"/>
            <a:ext cx="4389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21762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923"/>
                </a:solidFill>
              </a:rPr>
              <a:t>Why 20%?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2560320"/>
            <a:ext cx="4023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2"/>
                </a:solidFill>
              </a:rPr>
              <a:t>The data shows a natural gap - incomplete months are all under 1% of historical average (e.g. Spotify Sep = $0, Amazon Sep = $61). Complete months are all above 90%. Any threshold between 1-90% produces identical results. We chose 20% as a conservative, interpretable cutoff with clear distance from both extremes.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4160520"/>
            <a:ext cx="274320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C8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4187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</a:rPr>
              <a:t>1,720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2"/>
                </a:solidFill>
              </a:rPr>
              <a:t>Actual 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4160520"/>
            <a:ext cx="274320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C8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4187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</a:rPr>
              <a:t>280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2"/>
                </a:solidFill>
              </a:rPr>
              <a:t>Forecast rows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4160520"/>
            <a:ext cx="2743200" cy="777240"/>
          </a:xfrm>
          <a:prstGeom prst="rect">
            <a:avLst/>
          </a:prstGeom>
          <a:solidFill>
            <a:srgbClr val="E8F0F2"/>
          </a:solidFill>
          <a:ln w="6350">
            <a:solidFill>
              <a:srgbClr val="C8D8D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63640" y="418795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9A7"/>
                </a:solidFill>
              </a:rPr>
              <a:t>7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2"/>
                </a:solidFill>
              </a:rPr>
              <a:t>DSP+month combos forecasted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FORECASTING 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923"/>
                </a:solidFill>
              </a:rPr>
              <a:t>RPS-based forecasting - anchored to actual stream activity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6400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984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Forecasted Revenue  =  Streams (complete)  ×  Trailing RPS Baseline  ÷  1,000,000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52"/>
                </a:solidFill>
              </a:rPr>
              <a:t>Why streams-based RPS?  The problem statement explicitly states streams are complete - making them the ideal anchor. This approach uses real Sep/Oct activity rather than blind extrapolation from past revenue alone. RPS is also the secondary metric Finance requested, so it falls out naturally from our methodology.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16352"/>
            <a:ext cx="530352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60720" y="2834640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760720" y="2834640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25312" y="28712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923"/>
                </a:solidFill>
              </a:rPr>
              <a:t>Spotify / Apple / Amazon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25312" y="31272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Trailing 3-month RPS (Jun-Aug)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CoV &lt; 0.06 - highly stable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760720" y="3547872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60720" y="3547872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25312" y="35844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923"/>
                </a:solidFill>
              </a:rPr>
              <a:t>TikTok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925312" y="38404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Trailing 3-month (Jun-Aug)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CoV is relatively higher &amp; RPS Steady decline - older months would overestimate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760720" y="4261104"/>
            <a:ext cx="31089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760720" y="4261104"/>
            <a:ext cx="64008" cy="640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25312" y="4297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923"/>
                </a:solidFill>
              </a:rPr>
              <a:t>YouTube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925312" y="45537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A4A52"/>
                </a:solidFill>
              </a:rPr>
              <a:t>Apr-Aug baseline (5 months)</a:t>
            </a:r>
            <a:endParaRPr lang="en-US" sz="700" dirty="0"/>
          </a:p>
          <a:p>
            <a:r>
              <a:rPr lang="en-US" sz="700" dirty="0">
                <a:solidFill>
                  <a:srgbClr val="3A4A52"/>
                </a:solidFill>
              </a:rPr>
              <a:t>CoV is relatively higher &amp; RPS dropped sharply in April and stabilized at a new level, suggesting pre-April data is no longer representative. Using all 5 post-April months for a more stable baseline.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OUTPUT FOR FINANCE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923"/>
                </a:solidFill>
              </a:rPr>
              <a:t>One unified table - actuals and forecasts, flagged and ready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Period (2025-01 to 2025-10)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75688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350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5 Bucket DSPs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734056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business_unit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BU 1-4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92424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3392424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10 territories incl. “All Other Locations”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19472" y="1463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total_streams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1691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Complete for all rows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075688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075688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1214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total_gross_amount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23500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Actual or RPS-estimated revenue ($)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734056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734056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27797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Actual / Forecast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392424"/>
            <a:ext cx="41605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5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54880" y="3392424"/>
            <a:ext cx="54864" cy="548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438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52"/>
                </a:solidFill>
              </a:rPr>
              <a:t>Revenue per million streams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B2"/>
                </a:solidFill>
              </a:rPr>
              <a:t>2,000 rows  ·  Jan-Oct 2025  ·  5 DSPs  ·  4 BUs  ·  10 territories  ·  Delivered as Excel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C9A7"/>
                </a:solidFill>
              </a:rPr>
              <a:t>BONUS - KEY PATTERNS &amp; INSIGHTS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923"/>
                </a:solidFill>
              </a:rPr>
              <a:t>What the data reveals beyond the accruals problem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846" y="1207008"/>
            <a:ext cx="2809489" cy="117487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325880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596128" y="138074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16752" y="138074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</a:rPr>
              <a:t>The TikTok Paradox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96128" y="1673352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2"/>
                </a:solidFill>
              </a:rPr>
              <a:t>TikTok drives 66% of all streams but generates only 3% of revenue. Its RPS of ~ $2–3 vs Spotify's $2,200 per million streams makes it the lowest-value DSP by a significant margin despite massive volume.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486400" y="2658618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596128" y="271348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16752" y="271348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</a:rPr>
              <a:t>Revenue Growing 17%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596128" y="3006090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2"/>
                </a:solidFill>
              </a:rPr>
              <a:t>Total monthly revenue grew from $10.5M in January to ~$12.5M by mid-year - a healthy upward trend. Jul 2025 was the peak month at $12.8M.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486400" y="3991356"/>
            <a:ext cx="33375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596128" y="40462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16752" y="40462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923"/>
                </a:solidFill>
              </a:rPr>
              <a:t>US Accounts for 51% of Revenue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596128" y="4338828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2"/>
                </a:solidFill>
              </a:rPr>
              <a:t>The United States generated $60.7M - over half of total revenue - despite being one of 10 reported territories. UK and Germany are distant second and third.</a:t>
            </a:r>
            <a:endParaRPr lang="en-US" sz="800" dirty="0"/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C71B0D16-CA66-F369-4101-179482A83A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6">
            <a:extLst>
              <a:ext uri="{FF2B5EF4-FFF2-40B4-BE49-F238E27FC236}">
                <a16:creationId xmlns:a16="http://schemas.microsoft.com/office/drawing/2014/main" id="{D6749EDE-FD33-0BBB-EDA9-C58CAD968D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6" name="Picture 25" descr="A graph with a green line and numbers&#10;&#10;AI-generated content may be incorrect.">
            <a:extLst>
              <a:ext uri="{FF2B5EF4-FFF2-40B4-BE49-F238E27FC236}">
                <a16:creationId xmlns:a16="http://schemas.microsoft.com/office/drawing/2014/main" id="{5ECC880A-EC5E-4989-193E-811020A60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46" y="2569583"/>
            <a:ext cx="2810859" cy="1089925"/>
          </a:xfrm>
          <a:prstGeom prst="rect">
            <a:avLst/>
          </a:prstGeom>
        </p:spPr>
      </p:pic>
      <p:pic>
        <p:nvPicPr>
          <p:cNvPr id="28" name="Picture 27" descr="A graph with blue and green bars&#10;&#10;AI-generated content may be incorrect.">
            <a:extLst>
              <a:ext uri="{FF2B5EF4-FFF2-40B4-BE49-F238E27FC236}">
                <a16:creationId xmlns:a16="http://schemas.microsoft.com/office/drawing/2014/main" id="{B98571BD-D227-8835-270C-A8E6C56C1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40" y="3847206"/>
            <a:ext cx="2811395" cy="1203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was delivered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Unified revenue + streams dataset across 5 DSPs, 4 BUs, 10 territories - Jan to Oct 2025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Actual vs Forecast flag for every row, determined at the DSP+month level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RPS-based forecasting using trailing 3-month baselines, with DSP-specific adjustments for YouTube and TikTok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Final Excel output ready for Finance team accrual reporting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5"/>
                </a:solidFill>
              </a:rPr>
              <a:t>3 bonus insights surfaced from the data including the TikTok monetization gap and 17% revenue growth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B2"/>
                </a:solidFill>
              </a:rPr>
              <a:t>Swapnil Dubey  · sdubey14@student.ubc.ca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</TotalTime>
  <Words>948</Words>
  <Application>Microsoft Macintosh PowerPoint</Application>
  <PresentationFormat>On-screen Show (16:9)</PresentationFormat>
  <Paragraphs>109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CMG Data Science Case Study</dc:title>
  <dc:subject>PptxGenJS Presentation</dc:subject>
  <dc:creator>Swapnil Dubey</dc:creator>
  <cp:lastModifiedBy>sdubey14@student.ubc.ca</cp:lastModifiedBy>
  <cp:revision>5</cp:revision>
  <dcterms:created xsi:type="dcterms:W3CDTF">2026-03-01T04:05:27Z</dcterms:created>
  <dcterms:modified xsi:type="dcterms:W3CDTF">2026-03-01T20:57:47Z</dcterms:modified>
</cp:coreProperties>
</file>